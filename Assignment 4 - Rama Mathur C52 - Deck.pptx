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7-1.jpg" ContentType="image/jpg"/>
  <Override PartName="/ppt/media/image-7-2.jpg" ContentType="image/jpg"/>
  <Override PartName="/ppt/media/image-8-1.jpg" ContentType="image/jpg"/>
  <Override PartName="/ppt/media/image-8-2.jpg" ContentType="image/jpg"/>
  <Override PartName="/ppt/media/image-8-3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PM pain point. The image is a concept visual from the original prototype, not proof of the current live UI. Keep the live demo authoritative.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tight. Emphasize the root issue: PM influence depends on clear reasoning, not just speaking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MyCommPal is a responsive web application, not a native mobile app. The desktop and mobile panels are schematic illustrations of the same four-step flow. Demonstrate the current live site for actual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the “why not just use ChatGPT?” question. The answer is: MyCommPal is pre-structured for PM articulation practice and diagnosis.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jury evaluates scope discipline. We intentionally excluded broad speaking courses, video analysis, real-time interruptible conversations, enterprise integrations, and gamification to concentrate on one end-to-end PM articulation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your prepared baseline, practice 1, and practice 2 text here. Don’t promise a score—show what the app actually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jury may not open the full evidence document, so this slide brings actual WhatsApp proof directly into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you listened to user feedback honestly. This slide increases credibility because it includes real friction, not just praise.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precise. The feedback is genuine, but do not tell the jury all defects were fixed unless the final production retest confirms it. Record distinct tester IDs.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operating plan behind AARRR. It is intentionally a focused validation launch, not an untested growth forecast. The live app and code link are visible here. Confirm guest access works from a fresh browser before jury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jury an actual answer for all five AARRR stages. Emphasize event-driven retention over artificial daily usage. Monetization is not yet validated.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D4AF7"/>
          </a:solidFill>
          <a:ln w="12700">
            <a:solidFill>
              <a:srgbClr val="6D4A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4AF7"/>
                </a:solidFill>
              </a:rPr>
              <a:t>MYCOMMPAL  /  BUILDATHON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5166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1833"/>
                </a:solidFill>
              </a:rPr>
              <a:t>Great product thinking deserves clear communication.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2212848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50"/>
                </a:solidFill>
              </a:rPr>
              <a:t>Meet Vira — your personal AI communication mentor for Product Managers.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67512" y="3300984"/>
            <a:ext cx="5102352" cy="1078992"/>
          </a:xfrm>
          <a:prstGeom prst="roundRect">
            <a:avLst>
              <a:gd name="adj" fmla="val 8475"/>
            </a:avLst>
          </a:prstGeom>
          <a:solidFill>
            <a:srgbClr val="F0EC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46557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33"/>
                </a:solidFill>
              </a:rPr>
              <a:t>The promise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831336"/>
            <a:ext cx="4700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30" dirty="0">
                <a:solidFill>
                  <a:srgbClr val="2B3150"/>
                </a:solidFill>
              </a:rPr>
              <a:t>Diagnose one gap. Learn one technique. Practice again. See the difference.</a:t>
            </a:r>
            <a:endParaRPr lang="en-US" sz="1330" dirty="0"/>
          </a:p>
        </p:txBody>
      </p:sp>
      <p:sp>
        <p:nvSpPr>
          <p:cNvPr id="9" name="Shape 7"/>
          <p:cNvSpPr/>
          <p:nvPr/>
        </p:nvSpPr>
        <p:spPr>
          <a:xfrm>
            <a:off x="667512" y="4745736"/>
            <a:ext cx="5084064" cy="694944"/>
          </a:xfrm>
          <a:prstGeom prst="roundRect">
            <a:avLst>
              <a:gd name="adj" fmla="val 13158"/>
            </a:avLst>
          </a:prstGeom>
          <a:solidFill>
            <a:srgbClr val="6D4AF7"/>
          </a:solidFill>
          <a:ln w="12700">
            <a:solidFill>
              <a:srgbClr val="6D4A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49377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mycommpal.vercel.app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2376" y="57150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D4AF7"/>
                </a:solidFill>
              </a:rPr>
              <a:t>“For practice I would use Vira.”  — early tester</a:t>
            </a:r>
            <a:endParaRPr lang="en-US" sz="1500" dirty="0"/>
          </a:p>
        </p:txBody>
      </p:sp>
      <p:pic>
        <p:nvPicPr>
          <p:cNvPr id="12" name="Image 0" descr="/mnt/data/mycommpal_vira_powered_communication_jour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143000"/>
            <a:ext cx="5257800" cy="39502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0" y="526694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894"/>
                </a:solidFill>
              </a:rPr>
              <a:t>Illustrative product journey visual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195560" y="64556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894"/>
                </a:solidFill>
              </a:rPr>
              <a:t>MyCommPal  • 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D4AF7"/>
          </a:solidFill>
          <a:ln w="12700">
            <a:solidFill>
              <a:srgbClr val="6D4A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4AF7"/>
                </a:solidFill>
              </a:rPr>
              <a:t>MYCOMMPAL / BUILDATHON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833"/>
                </a:solidFill>
              </a:rPr>
              <a:t>The problem is clear, specific, and real.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195560" y="64556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894"/>
                </a:solidFill>
              </a:rPr>
              <a:t>MyCommPal  • 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94944" y="1371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833"/>
                </a:solidFill>
              </a:rPr>
              <a:t>PMs often know the answer—but struggle to articulate it clearly in the room.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13232" y="2084832"/>
            <a:ext cx="210312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4942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833"/>
                </a:solidFill>
              </a:rPr>
              <a:t>9 of 14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2615184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3150"/>
                </a:solidFill>
              </a:rPr>
              <a:t>participants in user research reported articulation-related challenges.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017520" y="2084832"/>
            <a:ext cx="2523744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224942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Current workaround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18688" y="2615184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B3150"/>
                </a:solidFill>
              </a:rPr>
              <a:t>Notes, self-practice, polite colleague feedback, generic ChatGPT prompts, videos and books.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760720" y="2084832"/>
            <a:ext cx="2615184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1888" y="22494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Why that fails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61888" y="2615184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B3150"/>
                </a:solidFill>
              </a:rPr>
              <a:t>They prepare content, but not delivery. Feedback is generic, delayed, or too polite.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595360" y="2084832"/>
            <a:ext cx="263347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224942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Career impact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796528" y="2615184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B3150"/>
                </a:solidFill>
              </a:rPr>
              <a:t>A strong recommendation can sound vague, scattered, or weak under pressure.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13232" y="3986784"/>
            <a:ext cx="5166360" cy="1600200"/>
          </a:xfrm>
          <a:prstGeom prst="roundRect">
            <a:avLst>
              <a:gd name="adj" fmla="val 5714"/>
            </a:avLst>
          </a:prstGeom>
          <a:solidFill>
            <a:srgbClr val="F0EC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151376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Problem statement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4400" y="4517136"/>
            <a:ext cx="476402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150"/>
                </a:solidFill>
              </a:rPr>
              <a:t>A working Product Manager struggles to explain product thinking clearly in high-pressure stakeholder conversations because they get too little realistic practice and too little specific feedback on what is not landing.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08192" y="3986784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EAF8F4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4151376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Hypothesis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09360" y="4517136"/>
            <a:ext cx="47183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150"/>
                </a:solidFill>
              </a:rPr>
              <a:t>If we give PMs a safe place to rehearse realistic scenarios, diagnose their biggest articulation gap, and coach one better retry, they will communicate more clearly and confidently.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5989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4AF7"/>
                </a:solidFill>
              </a:rPr>
              <a:t>This is why MyCommPal focuses on articulation—not broad public speaking.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D4AF7"/>
          </a:solidFill>
          <a:ln w="12700">
            <a:solidFill>
              <a:srgbClr val="6D4A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4AF7"/>
                </a:solidFill>
              </a:rPr>
              <a:t>WEB APP / MOBILE-RESPONSIVE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833"/>
                </a:solidFill>
              </a:rPr>
              <a:t>One mentoring journey. Any screen.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195560" y="64556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894"/>
                </a:solidFill>
              </a:rPr>
              <a:t>MyCommPal  •  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04088" y="13075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150"/>
                </a:solidFill>
              </a:rPr>
              <a:t>MyCommPal runs in the browser on desktop and mobile — the same four-step experience adapts to the screen.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6656" y="1947672"/>
            <a:ext cx="7909560" cy="3438144"/>
          </a:xfrm>
          <a:prstGeom prst="roundRect">
            <a:avLst>
              <a:gd name="adj" fmla="val 2660"/>
            </a:avLst>
          </a:prstGeom>
          <a:solidFill>
            <a:srgbClr val="FFFFFF"/>
          </a:solidFill>
          <a:ln w="12700">
            <a:solidFill>
              <a:srgbClr val="C9C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975104"/>
            <a:ext cx="7854696" cy="384048"/>
          </a:xfrm>
          <a:prstGeom prst="roundRect">
            <a:avLst>
              <a:gd name="adj" fmla="val 9524"/>
            </a:avLst>
          </a:prstGeom>
          <a:solidFill>
            <a:srgbClr val="EDEFFA"/>
          </a:solidFill>
          <a:ln w="12700">
            <a:solidFill>
              <a:srgbClr val="EDEF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121408"/>
            <a:ext cx="109728" cy="109728"/>
          </a:xfrm>
          <a:prstGeom prst="ellipse">
            <a:avLst/>
          </a:prstGeom>
          <a:solidFill>
            <a:srgbClr val="FF746C"/>
          </a:solidFill>
          <a:ln w="12700">
            <a:solidFill>
              <a:srgbClr val="FF74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2144" y="2121408"/>
            <a:ext cx="109728" cy="109728"/>
          </a:xfrm>
          <a:prstGeom prst="ellipse">
            <a:avLst/>
          </a:prstGeom>
          <a:solidFill>
            <a:srgbClr val="FFBD4C"/>
          </a:solidFill>
          <a:ln w="12700">
            <a:solidFill>
              <a:srgbClr val="FFBD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121408"/>
            <a:ext cx="109728" cy="109728"/>
          </a:xfrm>
          <a:prstGeom prst="ellipse">
            <a:avLst/>
          </a:prstGeom>
          <a:solidFill>
            <a:srgbClr val="53CFA3"/>
          </a:solidFill>
          <a:ln w="12700">
            <a:solidFill>
              <a:srgbClr val="53C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208483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894"/>
                </a:solidFill>
              </a:rPr>
              <a:t>https://mycommpal.vercel.app/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78992" y="25968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D4AF7"/>
                </a:solidFill>
              </a:rPr>
              <a:t>MyCommPal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78992" y="2953512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150"/>
                </a:solidFill>
              </a:rPr>
              <a:t>Your personal AI communication mentor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69264" y="3474720"/>
            <a:ext cx="1700784" cy="1207008"/>
          </a:xfrm>
          <a:prstGeom prst="roundRect">
            <a:avLst>
              <a:gd name="adj" fmla="val 7576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6424" y="360273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4AF7"/>
                </a:solidFill>
              </a:rPr>
              <a:t>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6424" y="386791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31833"/>
                </a:solidFill>
              </a:rPr>
              <a:t>My Goal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1106424" y="4270248"/>
            <a:ext cx="1399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E7894"/>
                </a:solidFill>
              </a:rPr>
              <a:t>Choose focus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2843784" y="3474720"/>
            <a:ext cx="1700784" cy="1207008"/>
          </a:xfrm>
          <a:prstGeom prst="roundRect">
            <a:avLst>
              <a:gd name="adj" fmla="val 7576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80944" y="360273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4AF7"/>
                </a:solidFill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80944" y="386791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31833"/>
                </a:solidFill>
              </a:rPr>
              <a:t>Assess Me</a:t>
            </a:r>
            <a:endParaRPr lang="en-US" sz="1360" dirty="0"/>
          </a:p>
        </p:txBody>
      </p:sp>
      <p:sp>
        <p:nvSpPr>
          <p:cNvPr id="22" name="Text 20"/>
          <p:cNvSpPr/>
          <p:nvPr/>
        </p:nvSpPr>
        <p:spPr>
          <a:xfrm>
            <a:off x="2980944" y="4270248"/>
            <a:ext cx="1399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E7894"/>
                </a:solidFill>
              </a:rPr>
              <a:t>Respond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4718304" y="3474720"/>
            <a:ext cx="1700784" cy="1207008"/>
          </a:xfrm>
          <a:prstGeom prst="roundRect">
            <a:avLst>
              <a:gd name="adj" fmla="val 7576"/>
            </a:avLst>
          </a:prstGeom>
          <a:solidFill>
            <a:srgbClr val="F0EC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5464" y="360273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4AF7"/>
                </a:solidFill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55464" y="386791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31833"/>
                </a:solidFill>
              </a:rPr>
              <a:t>My Plan</a:t>
            </a:r>
            <a:endParaRPr lang="en-US" sz="1360" dirty="0"/>
          </a:p>
        </p:txBody>
      </p:sp>
      <p:sp>
        <p:nvSpPr>
          <p:cNvPr id="26" name="Text 24"/>
          <p:cNvSpPr/>
          <p:nvPr/>
        </p:nvSpPr>
        <p:spPr>
          <a:xfrm>
            <a:off x="4855464" y="4270248"/>
            <a:ext cx="1399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E7894"/>
                </a:solidFill>
              </a:rPr>
              <a:t>Learn one technique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592824" y="3474720"/>
            <a:ext cx="1700784" cy="1207008"/>
          </a:xfrm>
          <a:prstGeom prst="roundRect">
            <a:avLst>
              <a:gd name="adj" fmla="val 7576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9984" y="360273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4AF7"/>
                </a:solidFill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29984" y="386791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31833"/>
                </a:solidFill>
              </a:rPr>
              <a:t>Practice</a:t>
            </a:r>
            <a:endParaRPr lang="en-US" sz="1360" dirty="0"/>
          </a:p>
        </p:txBody>
      </p:sp>
      <p:sp>
        <p:nvSpPr>
          <p:cNvPr id="30" name="Text 28"/>
          <p:cNvSpPr/>
          <p:nvPr/>
        </p:nvSpPr>
        <p:spPr>
          <a:xfrm>
            <a:off x="6729984" y="4270248"/>
            <a:ext cx="1399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E7894"/>
                </a:solidFill>
              </a:rPr>
              <a:t>Compare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859536" y="5047488"/>
            <a:ext cx="2377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4AF7"/>
                </a:solidFill>
              </a:rPr>
              <a:t>DESKTOP WEB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88552" y="1920240"/>
            <a:ext cx="2414016" cy="3502152"/>
          </a:xfrm>
          <a:prstGeom prst="roundRect">
            <a:avLst>
              <a:gd name="adj" fmla="val 3788"/>
            </a:avLst>
          </a:prstGeom>
          <a:solidFill>
            <a:srgbClr val="131833"/>
          </a:solidFill>
          <a:ln w="12700">
            <a:solidFill>
              <a:srgbClr val="1318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89136" y="2029968"/>
            <a:ext cx="2212848" cy="326440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38360" y="2093976"/>
            <a:ext cx="960120" cy="91440"/>
          </a:xfrm>
          <a:prstGeom prst="roundRect">
            <a:avLst>
              <a:gd name="adj" fmla="val 50000"/>
            </a:avLst>
          </a:prstGeom>
          <a:solidFill>
            <a:srgbClr val="131833"/>
          </a:solidFill>
          <a:ln w="12700">
            <a:solidFill>
              <a:srgbClr val="1318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53728" y="2414016"/>
            <a:ext cx="1892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4AF7"/>
                </a:solidFill>
              </a:rPr>
              <a:t>MyCommPal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272016" y="2706624"/>
            <a:ext cx="1865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2B3150"/>
                </a:solidFill>
              </a:rPr>
              <a:t>Your practice journey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9262872" y="2999232"/>
            <a:ext cx="1856232" cy="411480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72600" y="309067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4AF7"/>
                </a:solidFill>
              </a:rPr>
              <a:t>01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747504" y="3090672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31833"/>
                </a:solidFill>
              </a:rPr>
              <a:t>My Goal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9262872" y="3520440"/>
            <a:ext cx="1856232" cy="411480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72600" y="3611880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4AF7"/>
                </a:solidFill>
              </a:rPr>
              <a:t>02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747504" y="3611880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31833"/>
                </a:solidFill>
              </a:rPr>
              <a:t>Assess Me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9262872" y="4041648"/>
            <a:ext cx="1856232" cy="411480"/>
          </a:xfrm>
          <a:prstGeom prst="roundRect">
            <a:avLst>
              <a:gd name="adj" fmla="val 22222"/>
            </a:avLst>
          </a:prstGeom>
          <a:solidFill>
            <a:srgbClr val="F0EC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72600" y="413308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4AF7"/>
                </a:solidFill>
              </a:rPr>
              <a:t>03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747504" y="413308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31833"/>
                </a:solidFill>
              </a:rPr>
              <a:t>My Plan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9262872" y="4562856"/>
            <a:ext cx="1856232" cy="411480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72600" y="465429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4AF7"/>
                </a:solidFill>
              </a:rPr>
              <a:t>04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747504" y="465429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31833"/>
                </a:solidFill>
              </a:rPr>
              <a:t>Practice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9043416" y="546811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40" kern="0" dirty="0">
                <a:solidFill>
                  <a:srgbClr val="6D4AF7"/>
                </a:solidFill>
              </a:rPr>
              <a:t>MOBILE WEB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05840" y="594360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One experience  •  Responsive browser layout  •  No app installation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777240" y="636422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94"/>
                </a:solidFill>
              </a:rPr>
              <a:t>Illustrative responsive layout; live site is the source of truth.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D4AF7"/>
          </a:solidFill>
          <a:ln w="12700">
            <a:solidFill>
              <a:srgbClr val="6D4A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4AF7"/>
                </a:solidFill>
              </a:rPr>
              <a:t>MYCOMMPAL / BUILDATHON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833"/>
                </a:solidFill>
              </a:rPr>
              <a:t>Why MyCommPal is different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195560" y="64556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894"/>
                </a:solidFill>
              </a:rPr>
              <a:t>MyCommPal  •  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13232" y="1481328"/>
            <a:ext cx="3547872" cy="4315968"/>
          </a:xfrm>
          <a:prstGeom prst="roundRect">
            <a:avLst>
              <a:gd name="adj" fmla="val 2577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Generic LLMs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314553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Can roleplay if the user prompts well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Often generate answers for you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Feedback may be generic or inconsistent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Strong substitute, but not a ready-made improvement loop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34256" y="1481328"/>
            <a:ext cx="3547872" cy="4315968"/>
          </a:xfrm>
          <a:prstGeom prst="roundRect">
            <a:avLst>
              <a:gd name="adj" fmla="val 2577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64592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General speaking tools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35424" y="2011680"/>
            <a:ext cx="314553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Good at pace, filler words, and confidence cues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Useful for broad speaking practice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Usually weak at judging product reasoning and trade-offs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0" y="1481328"/>
            <a:ext cx="3547872" cy="4315968"/>
          </a:xfrm>
          <a:prstGeom prst="roundRect">
            <a:avLst>
              <a:gd name="adj" fmla="val 2577"/>
            </a:avLst>
          </a:prstGeom>
          <a:solidFill>
            <a:srgbClr val="F0EC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164592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4AF7"/>
                </a:solidFill>
              </a:rPr>
              <a:t>MyCommPal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56448" y="2011680"/>
            <a:ext cx="314553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PM-specific situations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Evaluates clarity, structure, conciseness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Adds product decision intelligence: decision, evidence, trade-off, impact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Guides one focused retry instead of only rewriting the answer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607161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833"/>
                </a:solidFill>
              </a:rPr>
              <a:t>MyCommPal’s edge is not “AI feedback.” It is the focused improvement loop for PM articulation.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D4AF7"/>
          </a:solidFill>
          <a:ln w="12700">
            <a:solidFill>
              <a:srgbClr val="6D4A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4AF7"/>
                </a:solidFill>
              </a:rPr>
              <a:t>WHAT WE CHOSE NOT TO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833"/>
                </a:solidFill>
              </a:rPr>
              <a:t>MVP scope: one skill, one complete loop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195560" y="64556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894"/>
                </a:solidFill>
              </a:rPr>
              <a:t>MyCommPal  •  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13232" y="1572768"/>
            <a:ext cx="5175504" cy="4242816"/>
          </a:xfrm>
          <a:prstGeom prst="roundRect">
            <a:avLst>
              <a:gd name="adj" fmla="val 2155"/>
            </a:avLst>
          </a:prstGeom>
          <a:solidFill>
            <a:srgbClr val="F0EC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833"/>
                </a:solidFill>
              </a:rPr>
              <a:t>IN SCOPE — THE CORE BET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4773168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150"/>
                </a:solidFill>
              </a:rPr>
              <a:t>• Select PM communication goal and scenario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3150"/>
                </a:solidFill>
              </a:rPr>
              <a:t>• Capture baseline by text or speech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3150"/>
                </a:solidFill>
              </a:rPr>
              <a:t>• Assess core articulation + relevant PM decision dimensions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3150"/>
                </a:solidFill>
              </a:rPr>
              <a:t>• Learn one targeted technique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3150"/>
                </a:solidFill>
              </a:rPr>
              <a:t>• Retry and compare attempts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3150"/>
                </a:solidFill>
              </a:rPr>
              <a:t>• Collect real user feedback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44768" y="1572768"/>
            <a:ext cx="5175504" cy="4242816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5936" y="1737360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833"/>
                </a:solidFill>
              </a:rPr>
              <a:t>OUT OF SCOPE — DELIBERATELY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45936" y="2103120"/>
            <a:ext cx="4773168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150"/>
                </a:solidFill>
              </a:rPr>
              <a:t>• Video and body-language analysis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3150"/>
                </a:solidFill>
              </a:rPr>
              <a:t>• Live, interruptible stakeholder voice simulation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3150"/>
                </a:solidFill>
              </a:rPr>
              <a:t>• Full public-speaking courses and anxiety treatment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3150"/>
                </a:solidFill>
              </a:rPr>
              <a:t>• Enterprise integrations and team dashboards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3150"/>
                </a:solidFill>
              </a:rPr>
              <a:t>• Advanced long-term learning analytics and gamification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104" y="6007608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6D4AF7"/>
                </a:solidFill>
              </a:rPr>
              <a:t>Trade-off: prove that one focused mentoring cycle creates value before broadening the platform.</a:t>
            </a:r>
            <a:endParaRPr lang="en-US" sz="15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D4AF7"/>
          </a:solidFill>
          <a:ln w="12700">
            <a:solidFill>
              <a:srgbClr val="6D4A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4AF7"/>
                </a:solidFill>
              </a:rPr>
              <a:t>MYCOMMPAL / BUILDATHON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833"/>
                </a:solidFill>
              </a:rPr>
              <a:t>Demo flow: show improvement in one conversation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195560" y="64556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894"/>
                </a:solidFill>
              </a:rPr>
              <a:t>MyCommPal  •  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49808" y="1280160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335024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4AF7"/>
                </a:solidFill>
              </a:rPr>
              <a:t>DEMO SCENARIO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61488" y="12984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Executive review: propose prioritizing onboarding over reporting, explain why now, and state the decision needed from leadership.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3232" y="1847088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1168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Baseline attempt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2377440"/>
            <a:ext cx="316382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“Onboarding feels important. Reporting can wait.”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Vira detects: weak rationale, weak trade-off, low executive clarity.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15968" y="1847088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201168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Practice 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17136" y="2377440"/>
            <a:ext cx="316382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“I recommend onboarding first because new users struggle to activate, and that slows adoption.”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Vira improves clarity and decision statement.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18704" y="1847088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0EC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9872" y="201168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Practice 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19872" y="2377440"/>
            <a:ext cx="316382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2B3150"/>
                </a:solidFill>
              </a:rPr>
              <a:t>“We should prioritize onboarding now, defer non-critical reporting, and communicate the timeline. This improves activation sooner while containing reporting risk.”</a:t>
            </a:r>
            <a:endParaRPr lang="en-US" sz="1440" dirty="0"/>
          </a:p>
          <a:p>
            <a:pPr indent="0" marL="0">
              <a:buNone/>
            </a:pP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2B3150"/>
                </a:solidFill>
              </a:rPr>
              <a:t>Now the trade-off and impact land.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713232" y="5440680"/>
            <a:ext cx="10771632" cy="658368"/>
          </a:xfrm>
          <a:prstGeom prst="roundRect">
            <a:avLst>
              <a:gd name="adj" fmla="val 13889"/>
            </a:avLst>
          </a:prstGeom>
          <a:solidFill>
            <a:srgbClr val="EAF8F4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605272"/>
            <a:ext cx="10369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What the jury should see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5971032"/>
            <a:ext cx="1036929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50"/>
                </a:solidFill>
              </a:rPr>
              <a:t>Baseline → diagnosis → one focused technique → better retry. The innovation is the improvement loop, not just answer generation.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D4AF7"/>
          </a:solidFill>
          <a:ln w="12700">
            <a:solidFill>
              <a:srgbClr val="6D4A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4AF7"/>
                </a:solidFill>
              </a:rPr>
              <a:t>MYCOMMPAL / BUILDATHON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833"/>
                </a:solidFill>
              </a:rPr>
              <a:t>Real users: what resonated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195560" y="64556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894"/>
                </a:solidFill>
              </a:rPr>
              <a:t>MyCommPal  •  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58368" y="1353312"/>
            <a:ext cx="3977640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</p:sp>
      <p:pic>
        <p:nvPicPr>
          <p:cNvPr id="7" name="Image 0" descr="/mnt/data/mycommpal_submission_work/image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389888"/>
            <a:ext cx="3904488" cy="2011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64608" y="1353312"/>
            <a:ext cx="6620256" cy="2084832"/>
          </a:xfrm>
          <a:prstGeom prst="roundRect">
            <a:avLst>
              <a:gd name="adj" fmla="val 4386"/>
            </a:avLst>
          </a:prstGeom>
          <a:solidFill>
            <a:srgbClr val="F0EC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65776" y="151790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What this tells us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065776" y="1883664"/>
            <a:ext cx="62179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150"/>
                </a:solidFill>
              </a:rPr>
              <a:t>• Users see a difference between learning concepts in ChatGPT and practising with Vira.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3150"/>
                </a:solidFill>
              </a:rPr>
              <a:t>• The product already has a recognizable use case: rehearsal and feedback.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3712464"/>
            <a:ext cx="3840480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</p:sp>
      <p:pic>
        <p:nvPicPr>
          <p:cNvPr id="12" name="Image 1" descr="/mnt/data/mycommpal_submission_work/image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749040"/>
            <a:ext cx="3767328" cy="23774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681728" y="3712464"/>
            <a:ext cx="6803136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82896" y="387705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More positive signals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882896" y="4242816"/>
            <a:ext cx="640080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B3150"/>
                </a:solidFill>
              </a:rPr>
              <a:t>• Step-by-step flow felt easy to follow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B3150"/>
                </a:solidFill>
              </a:rPr>
              <a:t>• Guest mode reduced friction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B3150"/>
                </a:solidFill>
              </a:rPr>
              <a:t>• “One thing at a time” coaching made feedback easier to apply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B3150"/>
                </a:solidFill>
              </a:rPr>
              <a:t>• The “practise your real situation” option felt useful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694944" y="63733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94"/>
                </a:solidFill>
              </a:rPr>
              <a:t>These are early qualitative signals from real testers.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D4AF7"/>
          </a:solidFill>
          <a:ln w="12700">
            <a:solidFill>
              <a:srgbClr val="6D4A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4AF7"/>
                </a:solidFill>
              </a:rPr>
              <a:t>MYCOMMPAL / BUILDATHON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833"/>
                </a:solidFill>
              </a:rPr>
              <a:t>Real users: where they got stuck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195560" y="64556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894"/>
                </a:solidFill>
              </a:rPr>
              <a:t>MyCommPal  •  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34747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</p:sp>
      <p:pic>
        <p:nvPicPr>
          <p:cNvPr id="7" name="Image 0" descr="/mnt/data/mycommpal_submission_work/image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335024"/>
            <a:ext cx="3401568" cy="2395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70832" y="1298448"/>
            <a:ext cx="3273552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</p:sp>
      <p:pic>
        <p:nvPicPr>
          <p:cNvPr id="9" name="Image 1" descr="/mnt/data/mycommpal_submission_work/image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335024"/>
            <a:ext cx="3200400" cy="23957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882128" y="1298448"/>
            <a:ext cx="3639312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</p:sp>
      <p:pic>
        <p:nvPicPr>
          <p:cNvPr id="11" name="Image 2" descr="/mnt/data/mycommpal_submission_work/image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4" y="1335024"/>
            <a:ext cx="3566160" cy="239572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6656" y="4041648"/>
            <a:ext cx="109728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77824" y="4206240"/>
            <a:ext cx="10570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Main friction themes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877824" y="4572000"/>
            <a:ext cx="1057046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1. Voice input sometimes duplicated or stopped unexpectedly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2. Submission / comparison states were confusing in some flows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3. Framework content and deep-dive guidance were hard to discover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4. Landing page copy and step navigation needed to be clearer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76656" y="5833872"/>
            <a:ext cx="10972800" cy="502920"/>
          </a:xfrm>
          <a:prstGeom prst="roundRect">
            <a:avLst>
              <a:gd name="adj" fmla="val 18182"/>
            </a:avLst>
          </a:prstGeom>
          <a:solidFill>
            <a:srgbClr val="F0EC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77824" y="5998464"/>
            <a:ext cx="10570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Why this mattered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77824" y="6364224"/>
            <a:ext cx="10570464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3150"/>
                </a:solidFill>
              </a:rPr>
              <a:t>The tests helped us separate “good concept” from “good product.” Users liked the core value, but reliability and clarity shape trust.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D4AF7"/>
          </a:solidFill>
          <a:ln w="12700">
            <a:solidFill>
              <a:srgbClr val="6D4A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4AF7"/>
                </a:solidFill>
              </a:rPr>
              <a:t>MYCOMMPAL / BUILDATHON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833"/>
                </a:solidFill>
              </a:rPr>
              <a:t>Feedback changed the priorities—not the mission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195560" y="64556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894"/>
                </a:solidFill>
              </a:rPr>
              <a:t>MyCommPal  •  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94944" y="1426464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EAF8F4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9105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What users valued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1956816"/>
            <a:ext cx="316382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Focused, step-by-step mentoring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Real PM scenarios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Guest access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One improvement at a time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15968" y="1426464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0EC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159105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Changes reported in build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17136" y="1956816"/>
            <a:ext cx="316382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Progressive disclosure of coaching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Transcript deduplication logic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Input and navigation handling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Supabase session persistence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36992" y="1426464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59105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Still needs live retest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38160" y="1956816"/>
            <a:ext cx="316382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Voice capture on real devices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Practice comparison scores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No previous-session carryover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Accurate streaks and completion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150"/>
                </a:solidFill>
              </a:rPr>
              <a:t>• Discoverable technique examples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0664" y="5861304"/>
            <a:ext cx="10808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4AF7"/>
                </a:solidFill>
              </a:rPr>
              <a:t>Reported fixes are based on implementation summary; production retest and 3–5 distinct tester records remain necessary.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D4AF7"/>
          </a:solidFill>
          <a:ln w="12700">
            <a:solidFill>
              <a:srgbClr val="6D4AF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58368" y="3291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4AF7"/>
                </a:solidFill>
              </a:rPr>
              <a:t>MARKET ENTRY / VALIDATION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833"/>
                </a:solidFill>
              </a:rPr>
              <a:t>GTM plan: earn the first 10 advocates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195560" y="64556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894"/>
                </a:solidFill>
              </a:rPr>
              <a:t>MyCommPal  • 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38988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1833"/>
                </a:solidFill>
              </a:rPr>
              <a:t>Start with working PMs who have real stakeholder conversations to prepare for.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13232" y="1993392"/>
            <a:ext cx="3447288" cy="2432304"/>
          </a:xfrm>
          <a:prstGeom prst="roundRect">
            <a:avLst>
              <a:gd name="adj" fmla="val 3759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157984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01  Recruit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523744"/>
            <a:ext cx="304495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/>
              <a:t>Initial 10 PM users identified:</a:t>
            </a:r>
          </a:p>
          <a:p>
            <a:r>
              <a:rPr sz="1400"/>
              <a:t>5 colleagues · 4 HelloPM peers · 1 friend.</a:t>
            </a:r>
          </a:p>
          <a:p>
            <a:r>
              <a:rPr sz="1400"/>
              <a:t>Invite each to practise one real stakeholder scenario.</a:t>
            </a:r>
          </a:p>
        </p:txBody>
      </p:sp>
      <p:sp>
        <p:nvSpPr>
          <p:cNvPr id="10" name="Shape 8"/>
          <p:cNvSpPr/>
          <p:nvPr/>
        </p:nvSpPr>
        <p:spPr>
          <a:xfrm>
            <a:off x="4370832" y="1993392"/>
            <a:ext cx="3447288" cy="2432304"/>
          </a:xfrm>
          <a:prstGeom prst="roundRect">
            <a:avLst>
              <a:gd name="adj" fmla="val 3759"/>
            </a:avLst>
          </a:prstGeom>
          <a:solidFill>
            <a:srgbClr val="F0ECFF"/>
          </a:solidFill>
          <a:ln w="12700">
            <a:solidFill>
              <a:srgbClr val="E5E8F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0" y="2157984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02  Activate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523744"/>
            <a:ext cx="304495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2B3150"/>
                </a:solidFill>
              </a:rPr>
              <a:t>Use guest access and one immediate personalized insight. Ask testers to complete the baseline → plan → retry journey.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8028432" y="1993392"/>
            <a:ext cx="3447288" cy="2432304"/>
          </a:xfrm>
          <a:prstGeom prst="roundRect">
            <a:avLst>
              <a:gd name="adj" fmla="val 3759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0" y="2157984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03  Learn &amp; iterate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0" y="2523744"/>
            <a:ext cx="304495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2B3150"/>
                </a:solidFill>
              </a:rPr>
              <a:t>Collect usefulness ratings and WhatsApp feedback; verify friction fixes, compare retries, and invite users back before real meetings.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731520" y="4727448"/>
            <a:ext cx="10725912" cy="1161288"/>
          </a:xfrm>
          <a:prstGeom prst="roundRect">
            <a:avLst>
              <a:gd name="adj" fmla="val 7874"/>
            </a:avLst>
          </a:prstGeom>
          <a:solidFill>
            <a:srgbClr val="EAF8F4"/>
          </a:solidFill>
          <a:ln w="12700">
            <a:solidFill>
              <a:srgbClr val="EAF8F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32688" y="4882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68"/>
                </a:solidFill>
              </a:rPr>
              <a:t>Launch metrics to test — not achieved results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2688" y="531266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00"/>
              <a:t>10 named first users  •  Track completed sessions  •  Feedback usefulness  •  14-day return</a:t>
            </a:r>
          </a:p>
        </p:txBody>
      </p:sp>
      <p:sp>
        <p:nvSpPr>
          <p:cNvPr id="19" name="Text 17"/>
          <p:cNvSpPr/>
          <p:nvPr/>
        </p:nvSpPr>
        <p:spPr>
          <a:xfrm>
            <a:off x="758952" y="612648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6D4AF7"/>
                </a:solidFill>
              </a:rPr>
              <a:t>Live demo: mycommpal.vercel.app   |   Source: github.com/ramachinthapalli-ghub/mycommpal</a:t>
            </a:r>
            <a:endParaRPr lang="en-US" sz="1220" dirty="0"/>
          </a:p>
        </p:txBody>
      </p:sp>
      <p:sp>
        <p:nvSpPr>
          <p:cNvPr id="20" name="TextBox 19"/>
          <p:cNvSpPr txBox="1"/>
          <p:nvPr/>
        </p:nvSpPr>
        <p:spPr>
          <a:xfrm>
            <a:off x="822960" y="44348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832AA"/>
                </a:solidFill>
              </a:defRPr>
            </a:pPr>
            <a:r>
              <a:t>Bhavana · Vivek · Srikanth · Naresh · Santosh  |  Charith · Manav · Nikhil · Chinmay  |  Ratan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D4AF7"/>
          </a:solidFill>
          <a:ln w="12700">
            <a:solidFill>
              <a:srgbClr val="6D4AF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58368" y="3291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4AF7"/>
                </a:solidFill>
              </a:rPr>
              <a:t>GTM / FIRST 10 USERS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833"/>
                </a:solidFill>
              </a:rPr>
              <a:t>AARRR — The Growth Plan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195560" y="64556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894"/>
                </a:solidFill>
              </a:rPr>
              <a:t>MyCommPal  •  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2176272" cy="3511296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25880" y="1810512"/>
            <a:ext cx="649224" cy="649224"/>
          </a:xfrm>
          <a:prstGeom prst="ellipse">
            <a:avLst/>
          </a:prstGeom>
          <a:solidFill>
            <a:srgbClr val="6D4AF7"/>
          </a:solidFill>
          <a:ln w="12700">
            <a:solidFill>
              <a:srgbClr val="6D4AF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25880" y="1938528"/>
            <a:ext cx="649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3232" y="2688336"/>
            <a:ext cx="18836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Acquisition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4088" y="3172968"/>
            <a:ext cx="19019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4AF7"/>
                </a:solidFill>
              </a:rPr>
              <a:t>First 10 PMs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005072"/>
            <a:ext cx="18653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00"/>
              <a:t>5 colleagues + 4 HelloPM peers + 1 friend</a:t>
            </a:r>
          </a:p>
        </p:txBody>
      </p:sp>
      <p:sp>
        <p:nvSpPr>
          <p:cNvPr id="12" name="Shape 10"/>
          <p:cNvSpPr/>
          <p:nvPr/>
        </p:nvSpPr>
        <p:spPr>
          <a:xfrm>
            <a:off x="2898648" y="1517904"/>
            <a:ext cx="2176272" cy="3511296"/>
          </a:xfrm>
          <a:prstGeom prst="roundRect">
            <a:avLst>
              <a:gd name="adj" fmla="val 4202"/>
            </a:avLst>
          </a:prstGeom>
          <a:solidFill>
            <a:srgbClr val="F0ECFF"/>
          </a:solidFill>
          <a:ln w="12700">
            <a:solidFill>
              <a:srgbClr val="E5E8F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657600" y="1810512"/>
            <a:ext cx="649224" cy="649224"/>
          </a:xfrm>
          <a:prstGeom prst="ellipse">
            <a:avLst/>
          </a:prstGeom>
          <a:solidFill>
            <a:srgbClr val="5FA7FF"/>
          </a:solidFill>
          <a:ln w="12700">
            <a:solidFill>
              <a:srgbClr val="6D4AF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0" y="1938528"/>
            <a:ext cx="649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044952" y="2688336"/>
            <a:ext cx="18836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Activation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035808" y="3172968"/>
            <a:ext cx="19019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4AF7"/>
                </a:solidFill>
              </a:rPr>
              <a:t>Aha in &lt;2 min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63240" y="4005072"/>
            <a:ext cx="18653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150"/>
                </a:solidFill>
              </a:rPr>
              <a:t>One precise gap + actionable technique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230368" y="1517904"/>
            <a:ext cx="2176272" cy="3511296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989320" y="1810512"/>
            <a:ext cx="649224" cy="649224"/>
          </a:xfrm>
          <a:prstGeom prst="ellipse">
            <a:avLst/>
          </a:prstGeom>
          <a:solidFill>
            <a:srgbClr val="6D4AF7"/>
          </a:solidFill>
          <a:ln w="12700">
            <a:solidFill>
              <a:srgbClr val="6D4AF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989320" y="1938528"/>
            <a:ext cx="649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76672" y="2688336"/>
            <a:ext cx="18836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Retention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367528" y="3172968"/>
            <a:ext cx="19019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4AF7"/>
                </a:solidFill>
              </a:rPr>
              <a:t>Before real meetings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4005072"/>
            <a:ext cx="18653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150"/>
                </a:solidFill>
              </a:rPr>
              <a:t>Return for roadmap / VP conversation prep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62088" y="1517904"/>
            <a:ext cx="2176272" cy="3511296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321040" y="1810512"/>
            <a:ext cx="649224" cy="649224"/>
          </a:xfrm>
          <a:prstGeom prst="ellipse">
            <a:avLst/>
          </a:prstGeom>
          <a:solidFill>
            <a:srgbClr val="6D4AF7"/>
          </a:solidFill>
          <a:ln w="12700">
            <a:solidFill>
              <a:srgbClr val="6D4AF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321040" y="1938528"/>
            <a:ext cx="649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708392" y="2688336"/>
            <a:ext cx="18836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Referral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699248" y="3172968"/>
            <a:ext cx="19019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4AF7"/>
                </a:solidFill>
              </a:rPr>
              <a:t>Share a useful result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26680" y="4005072"/>
            <a:ext cx="18653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150"/>
                </a:solidFill>
              </a:rPr>
              <a:t>Tell a PM colleague after a valuable retry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893808" y="1517904"/>
            <a:ext cx="2176272" cy="3511296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E5E8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652760" y="1810512"/>
            <a:ext cx="649224" cy="649224"/>
          </a:xfrm>
          <a:prstGeom prst="ellipse">
            <a:avLst/>
          </a:prstGeom>
          <a:solidFill>
            <a:srgbClr val="6D4AF7"/>
          </a:solidFill>
          <a:ln w="12700">
            <a:solidFill>
              <a:srgbClr val="6D4AF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652760" y="1938528"/>
            <a:ext cx="649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0040112" y="2688336"/>
            <a:ext cx="18836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833"/>
                </a:solidFill>
              </a:rPr>
              <a:t>Revenue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0030968" y="3172968"/>
            <a:ext cx="19019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4AF7"/>
                </a:solidFill>
              </a:rPr>
              <a:t>Freemium hypothesis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058400" y="4005072"/>
            <a:ext cx="18653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150"/>
                </a:solidFill>
              </a:rPr>
              <a:t>Paid ongoing mentoring + deeper practice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68096" y="5404104"/>
            <a:ext cx="10680192" cy="758952"/>
          </a:xfrm>
          <a:prstGeom prst="roundRect">
            <a:avLst>
              <a:gd name="adj" fmla="val 12048"/>
            </a:avLst>
          </a:prstGeom>
          <a:solidFill>
            <a:srgbClr val="EAF8F4"/>
          </a:solidFill>
          <a:ln w="12700">
            <a:solidFill>
              <a:srgbClr val="E5E8F4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69264" y="5568696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833"/>
                </a:solidFill>
              </a:rPr>
              <a:t>North Star: completed mentoring cycles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69264" y="5934456"/>
            <a:ext cx="1027785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150"/>
                </a:solidFill>
              </a:rPr>
              <a:t>Baseline assessment → targeted guidance → one or more retries. GTM targets are hypotheses, not achieved funnel metrics.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MyCommPal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MyCommPal — Jury Deck</dc:title>
  <dc:subject>MyCommPal Buildathon Jury Deck</dc:subject>
  <dc:creator>OpenAI</dc:creator>
  <cp:lastModifiedBy>OpenAI</cp:lastModifiedBy>
  <cp:revision>1</cp:revision>
  <dcterms:created xsi:type="dcterms:W3CDTF">2026-10-25T15:00:15Z</dcterms:created>
  <dcterms:modified xsi:type="dcterms:W3CDTF">2026-10-25T15:00:15Z</dcterms:modified>
</cp:coreProperties>
</file>